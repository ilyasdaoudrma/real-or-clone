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548640" y="502920"/>
            <a:ext cx="82296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GOMYCODE · COME BUILD WITH AI · MOROCCO · 27.09.2026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/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!!hero"/>
          <p:cNvSpPr txBox="1"/>
          <p:nvPr/>
        </p:nvSpPr>
        <p:spPr>
          <a:xfrm>
            <a:off x="548640" y="17373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8000" b="1">
                <a:solidFill>
                  <a:srgbClr val="F3F1EA"/>
                </a:solidFill>
                <a:latin typeface="Segoe UI"/>
              </a:rPr>
              <a:t>Real </a:t>
            </a:r>
            <a:r>
              <a:rPr sz="8000" b="1">
                <a:solidFill>
                  <a:srgbClr val="FF4D5E"/>
                </a:solidFill>
                <a:latin typeface="Segoe UI"/>
              </a:rPr>
              <a:t>or</a:t>
            </a:r>
            <a:r>
              <a:rPr sz="80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9A978E"/>
                </a:solidFill>
                <a:latin typeface="Segoe UI"/>
              </a:rPr>
              <a:t>حقيقي أم مستنسخ؟ — detecting AI voice-clone scams in voice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3F1EA"/>
                </a:solidFill>
                <a:latin typeface="Segoe UI"/>
              </a:rPr>
              <a:t>Ilyas Daoud · Oualid Karmoun · Ayoub El Mouhib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A978E"/>
                </a:solidFill>
                <a:latin typeface="Segoe UI"/>
              </a:rPr>
              <a:t>Live: </a:t>
            </a:r>
            <a:r>
              <a:rPr sz="1600" b="0">
                <a:solidFill>
                  <a:srgbClr val="D4FF3A"/>
                </a:solidFill>
                <a:latin typeface="Segoe UI"/>
              </a:rPr>
              <a:t>real-or-clone-9m7lxdq0i.gobrev.dev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A978E"/>
                </a:solidFill>
                <a:latin typeface="Segoe UI"/>
              </a:rPr>
              <a:t>Code: </a:t>
            </a:r>
            <a:r>
              <a:rPr sz="1600" b="0">
                <a:solidFill>
                  <a:srgbClr val="D4FF3A"/>
                </a:solidFill>
                <a:latin typeface="Segoe UI"/>
              </a:rPr>
              <a:t>github.com/ilyasdaoudrma/real-or-clone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731520" y="502920"/>
            <a:ext cx="96012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8366760" y="-82296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THE PROBLEM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Voice cloning made phone scams cheap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4D5E"/>
                </a:solidFill>
                <a:latin typeface="Segoe UI"/>
              </a:rPr>
              <a:t>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A978E"/>
                </a:solidFill>
                <a:latin typeface="Segoe UI"/>
              </a:rPr>
              <a:t>of audio are enough to clone a 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945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FB020"/>
                </a:solidFill>
                <a:latin typeface="Segoe UI"/>
              </a:rPr>
              <a:t>1 in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246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A978E"/>
                </a:solidFill>
                <a:latin typeface="Segoe UI"/>
              </a:rPr>
              <a:t>adults faced an AI voice scam or know a victim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347472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3F1EA"/>
                </a:solidFill>
                <a:latin typeface="Segoe UI"/>
              </a:rPr>
              <a:t>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A978E"/>
                </a:solidFill>
                <a:latin typeface="Segoe UI"/>
              </a:rPr>
              <a:t>can't tell a clone from a real voice (77% of victims lost money)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3F1EA"/>
                </a:solidFill>
                <a:latin typeface="Segoe UI"/>
              </a:rPr>
              <a:t>“Mom, I had an accident. Send money now.” — a fake voice note, sent on WhatsApp.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Users: </a:t>
            </a:r>
            <a:r>
              <a:rPr sz="1600" b="0">
                <a:solidFill>
                  <a:srgbClr val="F3F1EA"/>
                </a:solidFill>
                <a:latin typeface="Segoe UI"/>
              </a:rPr>
              <a:t>families &amp; older parents, mobile-money agents, bank / fintech call centres, fact-checkers.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9A978E"/>
                </a:solidFill>
                <a:latin typeface="Segoe UI"/>
              </a:rPr>
              <a:t>Source: McAfee survey, 7,054 adults, 7 countries.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914400" y="502920"/>
            <a:ext cx="109728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804672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OUR SOLUTION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Upload or record a voice note. Get the truth in &lt; 1 s.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pic>
        <p:nvPicPr>
          <p:cNvPr id="7" name="!!shot" descr="2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535605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201168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Verdict: likely real / likely clone / uncertain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Confidence + real-vs-clone probability bars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Timeline of the suspicious seconds (4 s windows)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3 safety tips in Arabic, French or English, written by an LLM from the verdict only — it can never change it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Before/after switch: XLS-R before fine-tuning vs ours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EE59D"/>
                </a:solidFill>
                <a:latin typeface="Segoe UI"/>
              </a:rPr>
              <a:t>✓ </a:t>
            </a:r>
            <a:r>
              <a:rPr sz="1600" b="0">
                <a:solidFill>
                  <a:srgbClr val="F3F1EA"/>
                </a:solidFill>
                <a:latin typeface="Segoe UI"/>
              </a:rPr>
              <a:t>Clerk login, private history (audio + result, deletable) and dashboard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548640" y="502920"/>
            <a:ext cx="123444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7726679" y="-82296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PIPELINE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How we built the detector (all on one NVIDIA L40S, Brev)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EE59D"/>
                </a:solidFill>
                <a:latin typeface="Segoe U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FLEURS + VoxPopuli (real)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MLAAD + In-the-Wild (fake)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EN / FR, ~50k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2860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4D5E"/>
                </a:solidFill>
                <a:latin typeface="Segoe UI"/>
              </a:rPr>
              <a:t>Fresh clones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01752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1,619 Chatterbox clones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of real speakers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(scam-style texts)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B020"/>
                </a:solidFill>
                <a:latin typeface="Segoe UI"/>
              </a:rPr>
              <a:t>Voice-note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01752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Opus 16 kbps · 8 kHz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noise · reverb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same for real AND fake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2860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D4FF3A"/>
                </a:solidFill>
                <a:latin typeface="Segoe UI"/>
              </a:rPr>
              <a:t>Fine-tune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301752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XLS-R 300M (Meta)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real/fake head · bf16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balanced 50/50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2286000"/>
            <a:ext cx="2103120" cy="292608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3F1EA"/>
                </a:solidFill>
                <a:latin typeface="Segoe UI"/>
              </a:rPr>
              <a:t>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19" y="301752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FastAPI + web app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Groq LLM tips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F3F1EA"/>
                </a:solidFill>
                <a:latin typeface="Segoe UI"/>
              </a:rPr>
              <a:t>Clerk + 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9A978E"/>
                </a:solidFill>
                <a:latin typeface="Segoe UI"/>
              </a:rPr>
              <a:t>Split by speaker and by generator — no voice or TTS engine in the test set was seen in training.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731520" y="502920"/>
            <a:ext cx="137160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740664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RESULTS · HELD-OUT TEST (10,122 CLIPS)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Fresh clones cut the error on cloned voices 4×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pic>
        <p:nvPicPr>
          <p:cNvPr id="7" name="!!fig" descr="eer_by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766560" cy="36088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920240"/>
            <a:ext cx="393192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D4FF3A"/>
                </a:solidFill>
                <a:latin typeface="Segoe UI"/>
              </a:rPr>
              <a:t>96.1%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971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A978E"/>
                </a:solidFill>
                <a:latin typeface="Segoe UI"/>
              </a:rPr>
              <a:t>accuracy (run C) on voices it never heard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977639"/>
            <a:ext cx="3931920" cy="1828800"/>
          </a:xfrm>
          <a:prstGeom prst="roundRect">
            <a:avLst>
              <a:gd name="adj" fmla="val 8000"/>
            </a:avLst>
          </a:prstGeom>
          <a:solidFill>
            <a:srgbClr val="16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41605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F3F1EA"/>
                </a:solidFill>
                <a:latin typeface="Segoe UI"/>
              </a:rPr>
              <a:t>2.4% 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50292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9A978E"/>
                </a:solidFill>
                <a:latin typeface="Segoe UI"/>
              </a:rPr>
              <a:t>on ElevenLabs, OpenAI, Gemini… never seen in training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914400" y="502920"/>
            <a:ext cx="150876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7086600" y="-82296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TESTING &amp; RELIABILITY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Our own test caught a shortcut — and we fixed it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pic>
        <p:nvPicPr>
          <p:cNvPr id="7" name="!!fig" descr="false_alarms_by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6766560" cy="3608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1168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Segoe UI"/>
              </a:rPr>
              <a:t>Run A/B: </a:t>
            </a:r>
            <a:r>
              <a:rPr sz="1500" b="0">
                <a:solidFill>
                  <a:srgbClr val="F3F1EA"/>
                </a:solidFill>
                <a:latin typeface="Segoe UI"/>
              </a:rPr>
              <a:t>learned “sounds like FLEURS = real”. 96–99% of real voices from other sources were flagged; the team lead's own phone note scored 1.00 fake.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EE59D"/>
                </a:solidFill>
                <a:latin typeface="Segoe UI"/>
              </a:rPr>
              <a:t>Run C: </a:t>
            </a:r>
            <a:r>
              <a:rPr sz="1500" b="0">
                <a:solidFill>
                  <a:srgbClr val="F3F1EA"/>
                </a:solidFill>
                <a:latin typeface="Segoe UI"/>
              </a:rPr>
              <a:t>+ varied real voices (VoxPopuli, In-the-Wild speakers) → false alarms ~7%, In-the-Wild EER 30.6% → 3.4%.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9A978E"/>
                </a:solidFill>
                <a:latin typeface="Segoe UI"/>
              </a:rPr>
              <a:t>Caveat: </a:t>
            </a:r>
            <a:r>
              <a:rPr sz="1500" b="0">
                <a:solidFill>
                  <a:srgbClr val="9A978E"/>
                </a:solidFill>
                <a:latin typeface="Segoe UI"/>
              </a:rPr>
              <a:t>In-the-Wild test is speaker-disjoint but no longer a new domain for run 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548640" y="502920"/>
            <a:ext cx="1645919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676656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RUNS A → B → C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Before vs after: confusion matrices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pic>
        <p:nvPicPr>
          <p:cNvPr id="7" name="!!fig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11064240" cy="3688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9A978E"/>
                </a:solidFill>
                <a:latin typeface="Segoe UI"/>
              </a:rPr>
              <a:t>Accuracy 70.8% → 70.8% → 96.1% · F1 0.798 → 0.802 → 0.968 · 30 ms per 10 s of audio on the L40S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731520" y="502920"/>
            <a:ext cx="178308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6446520" y="-82296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PRODUCT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The app: EN / FR / AR, mobile-first, private history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pic>
        <p:nvPicPr>
          <p:cNvPr id="7" name="!!shot" descr="4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206030" cy="4480560"/>
          </a:xfrm>
          <a:prstGeom prst="rect">
            <a:avLst/>
          </a:prstGeom>
        </p:spPr>
      </p:pic>
      <p:pic>
        <p:nvPicPr>
          <p:cNvPr id="8" name="Picture 7" descr="3_result_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920240"/>
            <a:ext cx="5394654" cy="4480560"/>
          </a:xfrm>
          <a:prstGeom prst="rect">
            <a:avLst/>
          </a:prstGeom>
        </p:spPr>
      </p:pic>
      <p:pic>
        <p:nvPicPr>
          <p:cNvPr id="9" name="Picture 8" descr="5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1920240"/>
            <a:ext cx="2070401" cy="4480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914400" y="502920"/>
            <a:ext cx="192024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612648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HONEST BY DESIGN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Responsible AI, cost and limits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D4FF3A"/>
                </a:solidFill>
                <a:latin typeface="Segoe UI"/>
              </a:rPr>
              <a:t>Privacy  </a:t>
            </a:r>
            <a:r>
              <a:rPr sz="1500" b="0">
                <a:solidFill>
                  <a:srgbClr val="F3F1EA"/>
                </a:solidFill>
                <a:latin typeface="Segoe UI"/>
              </a:rPr>
              <a:t>Login required; each user's audio + results are private and deletable item by item.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4FF3A"/>
                </a:solidFill>
                <a:latin typeface="Segoe UI"/>
              </a:rPr>
              <a:t>LLM scope  </a:t>
            </a:r>
            <a:r>
              <a:rPr sz="1500" b="0">
                <a:solidFill>
                  <a:srgbClr val="F3F1EA"/>
                </a:solidFill>
                <a:latin typeface="Segoe UI"/>
              </a:rPr>
              <a:t>the LLM never hears the audio and cannot change the verdict; fixed tips if it fails.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4FF3A"/>
                </a:solidFill>
                <a:latin typeface="Segoe UI"/>
              </a:rPr>
              <a:t>Consent  </a:t>
            </a:r>
            <a:r>
              <a:rPr sz="1500" b="0">
                <a:solidFill>
                  <a:srgbClr val="F3F1EA"/>
                </a:solidFill>
                <a:latin typeface="Segoe UI"/>
              </a:rPr>
              <a:t>demo voice = team lead, written consent.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4FF3A"/>
                </a:solidFill>
                <a:latin typeface="Segoe UI"/>
              </a:rPr>
              <a:t>Humility  </a:t>
            </a:r>
            <a:r>
              <a:rPr sz="1500" b="0">
                <a:solidFill>
                  <a:srgbClr val="F3F1EA"/>
                </a:solidFill>
                <a:latin typeface="Segoe UI"/>
              </a:rPr>
              <a:t>“An AI can be wrong — always call back on a number you know.”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Segoe UI"/>
              </a:rPr>
              <a:t>Cost  </a:t>
            </a:r>
            <a:r>
              <a:rPr sz="1500" b="0">
                <a:solidFill>
                  <a:srgbClr val="F3F1EA"/>
                </a:solidFill>
                <a:latin typeface="Segoe UI"/>
              </a:rPr>
              <a:t>1× L40S on Brev at $2.14/h — whole project ≈ $10 of the $100 credit.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Segoe UI"/>
              </a:rPr>
              <a:t>Limits  </a:t>
            </a:r>
            <a:r>
              <a:rPr sz="1500" b="0">
                <a:solidFill>
                  <a:srgbClr val="F3F1EA"/>
                </a:solidFill>
                <a:latin typeface="Segoe UI"/>
              </a:rPr>
              <a:t>English + French only — not validated on Arabic or Darija voices yet.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Segoe UI"/>
              </a:rPr>
              <a:t>Licences  </a:t>
            </a:r>
            <a:r>
              <a:rPr sz="1500" b="0">
                <a:solidFill>
                  <a:srgbClr val="F3F1EA"/>
                </a:solidFill>
                <a:latin typeface="Segoe UI"/>
              </a:rPr>
              <a:t>MLAAD is CC-BY-NC → non-commercial prototype.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FFB020"/>
                </a:solidFill>
                <a:latin typeface="Segoe UI"/>
              </a:rPr>
              <a:t>Next  </a:t>
            </a:r>
            <a:r>
              <a:rPr sz="1500" b="0">
                <a:solidFill>
                  <a:srgbClr val="F3F1EA"/>
                </a:solidFill>
                <a:latin typeface="Segoe UI"/>
              </a:rPr>
              <a:t>Darija data, real phone calls, more generators, on-device model.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548640" y="502920"/>
            <a:ext cx="205740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5806440" y="-82296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>WHAT WE USED</a:t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>Stack &amp; AI disclosure</a:t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Models  </a:t>
            </a:r>
            <a:r>
              <a:rPr sz="1600" b="0">
                <a:solidFill>
                  <a:srgbClr val="F3F1EA"/>
                </a:solidFill>
                <a:latin typeface="Segoe UI"/>
              </a:rPr>
              <a:t>XLS-R 300M (Meta, Apache-2.0, fine-tuned by us) · Chatterbox Multilingual (MIT) · gpt-oss-120b on Groq (tips only)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Data  </a:t>
            </a:r>
            <a:r>
              <a:rPr sz="1600" b="0">
                <a:solidFill>
                  <a:srgbClr val="F3F1EA"/>
                </a:solidFill>
                <a:latin typeface="Segoe UI"/>
              </a:rPr>
              <a:t>FLEURS (CC-BY) · VoxPopuli (CC0) · MLAAD (CC-BY-NC) · In-the-Wild (CC-BY-SA)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Infra  </a:t>
            </a:r>
            <a:r>
              <a:rPr sz="1600" b="0">
                <a:solidFill>
                  <a:srgbClr val="F3F1EA"/>
                </a:solidFill>
                <a:latin typeface="Segoe UI"/>
              </a:rPr>
              <a:t>NVIDIA Brev L40S · PyTorch · Transformers · FastAPI · Clerk · SQLite · Motion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AI help  </a:t>
            </a:r>
            <a:r>
              <a:rPr sz="1600" b="0">
                <a:solidFill>
                  <a:srgbClr val="F3F1EA"/>
                </a:solidFill>
                <a:latin typeface="Segoe UI"/>
              </a:rPr>
              <a:t>Claude Code wrote most of the code; the team chose the approach, ran every GPU step, listened to the clones, checked the numbers and caught the shortcut.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Try it  </a:t>
            </a:r>
            <a:r>
              <a:rPr sz="1600" b="0">
                <a:solidFill>
                  <a:srgbClr val="F3F1EA"/>
                </a:solidFill>
                <a:latin typeface="Segoe UI"/>
              </a:rPr>
              <a:t>real-or-clone-9m7lxdq0i.gobrev.dev — sign in with Google or email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8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bar"/>
          <p:cNvSpPr/>
          <p:nvPr/>
        </p:nvSpPr>
        <p:spPr>
          <a:xfrm>
            <a:off x="731520" y="502920"/>
            <a:ext cx="2194560" cy="82296"/>
          </a:xfrm>
          <a:prstGeom prst="rect">
            <a:avLst/>
          </a:prstGeom>
          <a:solidFill>
            <a:srgbClr val="D4F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glow"/>
          <p:cNvSpPr/>
          <p:nvPr/>
        </p:nvSpPr>
        <p:spPr>
          <a:xfrm>
            <a:off x="5486400" y="-1371600"/>
            <a:ext cx="4572000" cy="4572000"/>
          </a:xfrm>
          <a:prstGeom prst="ellipse">
            <a:avLst/>
          </a:prstGeom>
          <a:solidFill>
            <a:srgbClr val="1B10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kicker"/>
          <p:cNvSpPr txBox="1"/>
          <p:nvPr/>
        </p:nvSpPr>
        <p:spPr>
          <a:xfrm>
            <a:off x="548640" y="658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D4FF3A"/>
                </a:solidFill>
                <a:latin typeface="Segoe UI"/>
              </a:rPr>
              <a:t/>
            </a:r>
          </a:p>
        </p:txBody>
      </p:sp>
      <p:sp>
        <p:nvSpPr>
          <p:cNvPr id="5" name="!!title"/>
          <p:cNvSpPr txBox="1"/>
          <p:nvPr/>
        </p:nvSpPr>
        <p:spPr>
          <a:xfrm>
            <a:off x="548640" y="9601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F3F1EA"/>
                </a:solidFill>
                <a:latin typeface="Segoe UI"/>
              </a:rPr>
              <a:t/>
            </a:r>
          </a:p>
        </p:txBody>
      </p:sp>
      <p:sp>
        <p:nvSpPr>
          <p:cNvPr id="6" name="!!brand"/>
          <p:cNvSpPr txBox="1"/>
          <p:nvPr/>
        </p:nvSpPr>
        <p:spPr>
          <a:xfrm>
            <a:off x="9692640" y="6355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3F1EA"/>
                </a:solidFill>
                <a:latin typeface="Segoe UI"/>
              </a:rPr>
              <a:t>Real </a:t>
            </a:r>
            <a:r>
              <a:rPr sz="1200" b="1">
                <a:solidFill>
                  <a:srgbClr val="FF4D5E"/>
                </a:solidFill>
                <a:latin typeface="Segoe UI"/>
              </a:rPr>
              <a:t>or</a:t>
            </a:r>
            <a:r>
              <a:rPr sz="1200" b="1">
                <a:solidFill>
                  <a:srgbClr val="F3F1EA"/>
                </a:solidFill>
                <a:latin typeface="Segoe UI"/>
              </a:rPr>
              <a:t> Clone?</a:t>
            </a:r>
          </a:p>
        </p:txBody>
      </p:sp>
      <p:sp>
        <p:nvSpPr>
          <p:cNvPr id="7" name="!!hero"/>
          <p:cNvSpPr txBox="1"/>
          <p:nvPr/>
        </p:nvSpPr>
        <p:spPr>
          <a:xfrm>
            <a:off x="548640" y="21031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0" b="1">
                <a:solidFill>
                  <a:srgbClr val="F3F1EA"/>
                </a:solidFill>
                <a:latin typeface="Segoe U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3F1EA"/>
                </a:solidFill>
                <a:latin typeface="Segoe UI"/>
              </a:rPr>
              <a:t>Real </a:t>
            </a:r>
            <a:r>
              <a:rPr sz="2200" b="0">
                <a:solidFill>
                  <a:srgbClr val="FF4D5E"/>
                </a:solidFill>
                <a:latin typeface="Segoe UI"/>
              </a:rPr>
              <a:t>or</a:t>
            </a:r>
            <a:r>
              <a:rPr sz="2200" b="0">
                <a:solidFill>
                  <a:srgbClr val="F3F1EA"/>
                </a:solidFill>
                <a:latin typeface="Segoe UI"/>
              </a:rPr>
              <a:t> Clone?</a:t>
            </a:r>
            <a:r>
              <a:rPr sz="2200" b="0">
                <a:solidFill>
                  <a:srgbClr val="9A978E"/>
                </a:solidFill>
                <a:latin typeface="Segoe UI"/>
              </a:rPr>
              <a:t>  ·  شكرًا  ·  Merci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4FF3A"/>
                </a:solidFill>
                <a:latin typeface="Segoe UI"/>
              </a:rPr>
              <a:t>real-or-clone-9m7lxdq0i.gobrev.dev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